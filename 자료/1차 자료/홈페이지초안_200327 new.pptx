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802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598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21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88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2020-03-27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2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2020-03-27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623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2020-03-27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332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31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823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293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448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7E3BD-9E75-4487-BEF7-C86741923CB9}" type="datetimeFigureOut">
              <a:rPr lang="ko-KR" altLang="en-US" smtClean="0"/>
              <a:t>2020-03-27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067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jhlee@dgist.ac.kr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896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메인페이지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ART Lab.</a:t>
            </a:r>
          </a:p>
          <a:p>
            <a:r>
              <a:rPr lang="en-US" altLang="ko-KR" dirty="0"/>
              <a:t>People</a:t>
            </a:r>
          </a:p>
          <a:p>
            <a:r>
              <a:rPr lang="en-US" altLang="ko-KR" dirty="0"/>
              <a:t>Projects</a:t>
            </a:r>
          </a:p>
          <a:p>
            <a:r>
              <a:rPr lang="en-US" altLang="ko-KR" dirty="0"/>
              <a:t>Publications</a:t>
            </a:r>
          </a:p>
          <a:p>
            <a:r>
              <a:rPr lang="en-US" altLang="ko-KR" dirty="0"/>
              <a:t>Lecture</a:t>
            </a:r>
          </a:p>
          <a:p>
            <a:r>
              <a:rPr lang="en-US" altLang="ko-KR" dirty="0"/>
              <a:t>News &amp; Updates</a:t>
            </a:r>
          </a:p>
        </p:txBody>
      </p:sp>
    </p:spTree>
    <p:extLst>
      <p:ext uri="{BB962C8B-B14F-4D97-AF65-F5344CB8AC3E}">
        <p14:creationId xmlns:p14="http://schemas.microsoft.com/office/powerpoint/2010/main" val="4101810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ART Lab.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363943" y="1676087"/>
            <a:ext cx="559945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" indent="-152400" latinLnBrk="0">
              <a:spcAft>
                <a:spcPts val="600"/>
              </a:spcAft>
              <a:buSzPct val="75000"/>
              <a:buBlip>
                <a:blip r:embed="rId2"/>
              </a:buBlip>
            </a:pPr>
            <a:r>
              <a:rPr lang="ko-KR" altLang="en-US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기술이전 총 </a:t>
            </a:r>
            <a:r>
              <a:rPr lang="en-US" altLang="ko-KR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8</a:t>
            </a:r>
            <a:r>
              <a:rPr lang="ko-KR" altLang="en-US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건</a:t>
            </a:r>
            <a:r>
              <a:rPr lang="en-US" altLang="ko-KR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(</a:t>
            </a:r>
            <a:r>
              <a:rPr lang="ko-KR" altLang="en-US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약 </a:t>
            </a:r>
            <a:r>
              <a:rPr lang="en-US" altLang="ko-KR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6</a:t>
            </a:r>
            <a:r>
              <a:rPr lang="ko-KR" altLang="en-US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억</a:t>
            </a:r>
            <a:r>
              <a:rPr lang="en-US" altLang="ko-KR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), </a:t>
            </a:r>
            <a:r>
              <a:rPr lang="ko-KR" altLang="en-US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관련 특허 약 </a:t>
            </a:r>
            <a:r>
              <a:rPr lang="en-US" altLang="ko-KR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70</a:t>
            </a:r>
            <a:r>
              <a:rPr lang="ko-KR" altLang="en-US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건</a:t>
            </a:r>
            <a:r>
              <a:rPr lang="en-US" altLang="ko-KR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, SCI</a:t>
            </a:r>
            <a:r>
              <a:rPr lang="ko-KR" altLang="en-US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급 논문 약 </a:t>
            </a:r>
            <a:r>
              <a:rPr lang="en-US" altLang="ko-KR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00 </a:t>
            </a:r>
            <a:r>
              <a:rPr lang="ko-KR" altLang="en-US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게재</a:t>
            </a:r>
            <a:endParaRPr lang="en-US" altLang="ko-KR" sz="1400" spc="-50" dirty="0">
              <a:ln>
                <a:solidFill>
                  <a:srgbClr val="9295AC">
                    <a:alpha val="0"/>
                  </a:srgbClr>
                </a:solidFill>
              </a:ln>
              <a:solidFill>
                <a:srgbClr val="2E3542"/>
              </a:solidFill>
              <a:latin typeface="Rix고딕 M" pitchFamily="18" charset="-127"/>
              <a:ea typeface="Rix고딕 M" pitchFamily="18" charset="-127"/>
            </a:endParaRPr>
          </a:p>
          <a:p>
            <a:pPr marL="152400" indent="-152400" latinLnBrk="0">
              <a:spcAft>
                <a:spcPts val="600"/>
              </a:spcAft>
              <a:buSzPct val="75000"/>
              <a:buBlip>
                <a:blip r:embed="rId2"/>
              </a:buBlip>
            </a:pPr>
            <a:r>
              <a:rPr lang="en-US" altLang="ko-KR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2015</a:t>
            </a:r>
            <a:r>
              <a:rPr lang="ko-KR" altLang="en-US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년 기술상용화 </a:t>
            </a:r>
            <a:r>
              <a:rPr lang="en-US" altLang="ko-KR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Tech. Biz. Top3 </a:t>
            </a:r>
            <a:r>
              <a:rPr lang="ko-KR" altLang="en-US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기술 선정</a:t>
            </a:r>
            <a:r>
              <a:rPr lang="en-US" altLang="ko-KR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(</a:t>
            </a:r>
            <a:r>
              <a:rPr lang="ko-KR" altLang="en-US" sz="1400" spc="-50" dirty="0" err="1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산업통상부</a:t>
            </a:r>
            <a:r>
              <a:rPr lang="ko-KR" altLang="en-US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 장관상</a:t>
            </a:r>
            <a:r>
              <a:rPr lang="en-US" altLang="ko-KR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)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98570" y="1706695"/>
            <a:ext cx="552559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0" indent="-152400" latinLnBrk="0">
              <a:spcAft>
                <a:spcPts val="600"/>
              </a:spcAft>
              <a:buSzPct val="75000"/>
              <a:buBlip>
                <a:blip r:embed="rId2"/>
              </a:buBlip>
            </a:pPr>
            <a:r>
              <a:rPr lang="ko-KR" altLang="en-US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레이더 신호처리 기술은</a:t>
            </a:r>
            <a:r>
              <a:rPr lang="en-US" altLang="ko-KR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개별 전장 업체들이 자체 개발한 핵심 보안 기술</a:t>
            </a:r>
            <a:endParaRPr lang="en-US" altLang="ko-KR" sz="1400" spc="-50" dirty="0">
              <a:ln>
                <a:solidFill>
                  <a:srgbClr val="9295AC">
                    <a:alpha val="0"/>
                  </a:srgbClr>
                </a:solidFill>
              </a:ln>
              <a:solidFill>
                <a:srgbClr val="2E3542"/>
              </a:solidFill>
              <a:latin typeface="Rix고딕 M" pitchFamily="18" charset="-127"/>
              <a:ea typeface="Rix고딕 M" pitchFamily="18" charset="-127"/>
            </a:endParaRPr>
          </a:p>
          <a:p>
            <a:pPr marL="152400" indent="-152400" latinLnBrk="0">
              <a:spcAft>
                <a:spcPts val="600"/>
              </a:spcAft>
              <a:buSzPct val="75000"/>
              <a:buBlip>
                <a:blip r:embed="rId2"/>
              </a:buBlip>
            </a:pPr>
            <a:r>
              <a:rPr lang="ko-KR" altLang="en-US" sz="1400" spc="-50" dirty="0" err="1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민군</a:t>
            </a:r>
            <a:r>
              <a:rPr lang="ko-KR" altLang="en-US" sz="1400" spc="-50" dirty="0">
                <a:ln>
                  <a:solidFill>
                    <a:srgbClr val="9295AC">
                      <a:alpha val="0"/>
                    </a:srgbClr>
                  </a:solidFill>
                </a:ln>
                <a:solidFill>
                  <a:srgbClr val="2E3542"/>
                </a:solidFill>
                <a:latin typeface="Rix고딕 M" pitchFamily="18" charset="-127"/>
                <a:ea typeface="Rix고딕 M" pitchFamily="18" charset="-127"/>
              </a:rPr>
              <a:t> 겸용 레이더 원천기술 확보 및 기술 상용화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D8B0571-9EDD-48B9-A171-221604EEAF12}"/>
              </a:ext>
            </a:extLst>
          </p:cNvPr>
          <p:cNvGrpSpPr/>
          <p:nvPr/>
        </p:nvGrpSpPr>
        <p:grpSpPr>
          <a:xfrm>
            <a:off x="90105" y="2970061"/>
            <a:ext cx="2765659" cy="1217189"/>
            <a:chOff x="114493" y="2876470"/>
            <a:chExt cx="2765659" cy="1217189"/>
          </a:xfrm>
        </p:grpSpPr>
        <p:grpSp>
          <p:nvGrpSpPr>
            <p:cNvPr id="9" name="그룹 8"/>
            <p:cNvGrpSpPr/>
            <p:nvPr/>
          </p:nvGrpSpPr>
          <p:grpSpPr>
            <a:xfrm>
              <a:off x="312813" y="2884705"/>
              <a:ext cx="2328489" cy="458570"/>
              <a:chOff x="7763933" y="1482534"/>
              <a:chExt cx="5328740" cy="3170602"/>
            </a:xfrm>
          </p:grpSpPr>
          <p:cxnSp>
            <p:nvCxnSpPr>
              <p:cNvPr id="13" name="직선 연결선 12"/>
              <p:cNvCxnSpPr/>
              <p:nvPr/>
            </p:nvCxnSpPr>
            <p:spPr>
              <a:xfrm>
                <a:off x="7763933" y="1482534"/>
                <a:ext cx="5328740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032772"/>
                </a:solidFill>
                <a:prstDash val="solid"/>
              </a:ln>
              <a:effectLst/>
            </p:spPr>
          </p:cxnSp>
          <p:cxnSp>
            <p:nvCxnSpPr>
              <p:cNvPr id="14" name="직선 연결선 13"/>
              <p:cNvCxnSpPr/>
              <p:nvPr/>
            </p:nvCxnSpPr>
            <p:spPr>
              <a:xfrm>
                <a:off x="7763933" y="4653136"/>
                <a:ext cx="5328740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032772"/>
                </a:solidFill>
                <a:prstDash val="solid"/>
              </a:ln>
              <a:effectLst/>
            </p:spPr>
          </p:cxnSp>
        </p:grpSp>
        <p:sp>
          <p:nvSpPr>
            <p:cNvPr id="10" name="TextBox 9"/>
            <p:cNvSpPr txBox="1"/>
            <p:nvPr/>
          </p:nvSpPr>
          <p:spPr>
            <a:xfrm>
              <a:off x="114493" y="2876470"/>
              <a:ext cx="276565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300" b="1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latin typeface="Rix고딕 B" panose="02020603020101020101" pitchFamily="18" charset="-127"/>
                  <a:ea typeface="Rix고딕 B" panose="02020603020101020101" pitchFamily="18" charset="-127"/>
                </a:rPr>
                <a:t>레이더 신호처리 </a:t>
              </a:r>
              <a:endParaRPr lang="en-US" altLang="ko-KR" sz="1300" b="1" dirty="0">
                <a:ln>
                  <a:solidFill>
                    <a:prstClr val="white">
                      <a:alpha val="5000"/>
                    </a:prstClr>
                  </a:solidFill>
                </a:ln>
                <a:latin typeface="Rix고딕 B" panose="02020603020101020101" pitchFamily="18" charset="-127"/>
                <a:ea typeface="Rix고딕 B" panose="02020603020101020101" pitchFamily="18" charset="-127"/>
              </a:endParaRPr>
            </a:p>
            <a:p>
              <a:pPr algn="ctr"/>
              <a:r>
                <a:rPr lang="ko-KR" altLang="en-US" sz="1300" b="1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latin typeface="Rix고딕 B" panose="02020603020101020101" pitchFamily="18" charset="-127"/>
                  <a:ea typeface="Rix고딕 B" panose="02020603020101020101" pitchFamily="18" charset="-127"/>
                </a:rPr>
                <a:t>핵심 알고리즘 기술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18988" y="3483367"/>
              <a:ext cx="2322308" cy="288975"/>
            </a:xfrm>
            <a:prstGeom prst="snip2DiagRect">
              <a:avLst/>
            </a:prstGeom>
            <a:solidFill>
              <a:srgbClr val="0172FF"/>
            </a:solidFill>
          </p:spPr>
          <p:txBody>
            <a:bodyPr wrap="none" rtlCol="0" anchor="ctr" anchorCtr="0">
              <a:noAutofit/>
            </a:bodyPr>
            <a:lstStyle/>
            <a:p>
              <a:pPr lvl="0" algn="ctr">
                <a:defRPr/>
              </a:pPr>
              <a:r>
                <a:rPr lang="ko-KR" altLang="en-US" sz="1200" b="1" kern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white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탐지</a:t>
              </a:r>
              <a:r>
                <a:rPr lang="en-US" altLang="ko-KR" sz="1200" b="1" kern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white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/</a:t>
              </a:r>
              <a:r>
                <a:rPr lang="ko-KR" altLang="en-US" sz="1200" b="1" kern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white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추적</a:t>
              </a:r>
              <a:r>
                <a:rPr lang="en-US" altLang="ko-KR" sz="1200" b="1" kern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white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/</a:t>
              </a:r>
              <a:r>
                <a:rPr lang="ko-KR" altLang="en-US" sz="1200" b="1" kern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white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인식 알고리즘 원천 기술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08419" y="3804684"/>
              <a:ext cx="2332876" cy="288975"/>
            </a:xfrm>
            <a:prstGeom prst="snip2DiagRect">
              <a:avLst/>
            </a:prstGeom>
            <a:solidFill>
              <a:srgbClr val="0172FF"/>
            </a:solidFill>
          </p:spPr>
          <p:txBody>
            <a:bodyPr wrap="none" rtlCol="0" anchor="ctr" anchorCtr="0">
              <a:noAutofit/>
            </a:bodyPr>
            <a:lstStyle/>
            <a:p>
              <a:pPr lvl="0" algn="ctr">
                <a:defRPr/>
              </a:pPr>
              <a:r>
                <a:rPr lang="ko-KR" altLang="en-US" sz="1200" b="1" kern="0" dirty="0" err="1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white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고정확</a:t>
              </a:r>
              <a:r>
                <a:rPr lang="en-US" altLang="ko-KR" sz="1200" b="1" kern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white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, </a:t>
              </a:r>
              <a:r>
                <a:rPr lang="ko-KR" altLang="en-US" sz="1200" b="1" kern="0" dirty="0" err="1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white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고정밀</a:t>
              </a:r>
              <a:r>
                <a:rPr lang="en-US" altLang="ko-KR" sz="1200" b="1" kern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white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, </a:t>
              </a:r>
              <a:r>
                <a:rPr lang="ko-KR" altLang="en-US" sz="1200" b="1" kern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white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고해상도 알고리즘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2448E76-9A42-419E-9F21-AF22D8077CBF}"/>
              </a:ext>
            </a:extLst>
          </p:cNvPr>
          <p:cNvSpPr txBox="1"/>
          <p:nvPr/>
        </p:nvSpPr>
        <p:spPr>
          <a:xfrm>
            <a:off x="188683" y="1369447"/>
            <a:ext cx="1324982" cy="251755"/>
          </a:xfrm>
          <a:prstGeom prst="bracketPair">
            <a:avLst>
              <a:gd name="adj" fmla="val 0"/>
            </a:avLst>
          </a:prstGeom>
          <a:ln w="254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1800" dirty="0">
                <a:ln>
                  <a:solidFill>
                    <a:srgbClr val="A7B2C9">
                      <a:alpha val="0"/>
                    </a:srgbClr>
                  </a:solidFill>
                </a:ln>
                <a:latin typeface="Arial" pitchFamily="34" charset="0"/>
                <a:ea typeface="Rix고딕 M" pitchFamily="18" charset="-127"/>
                <a:cs typeface="Arial" pitchFamily="34" charset="0"/>
              </a:rPr>
              <a:t>기술정의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448E76-9A42-419E-9F21-AF22D8077CBF}"/>
              </a:ext>
            </a:extLst>
          </p:cNvPr>
          <p:cNvSpPr txBox="1"/>
          <p:nvPr/>
        </p:nvSpPr>
        <p:spPr>
          <a:xfrm>
            <a:off x="188681" y="2527396"/>
            <a:ext cx="2310679" cy="226536"/>
          </a:xfrm>
          <a:prstGeom prst="bracketPair">
            <a:avLst>
              <a:gd name="adj" fmla="val 0"/>
            </a:avLst>
          </a:prstGeom>
          <a:ln w="254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1800" dirty="0">
                <a:ln>
                  <a:solidFill>
                    <a:srgbClr val="A7B2C9">
                      <a:alpha val="0"/>
                    </a:srgbClr>
                  </a:solidFill>
                </a:ln>
                <a:latin typeface="Arial" pitchFamily="34" charset="0"/>
                <a:ea typeface="Rix고딕 M" pitchFamily="18" charset="-127"/>
                <a:cs typeface="Arial" pitchFamily="34" charset="0"/>
              </a:rPr>
              <a:t>연구분야 및 보유기술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448E76-9A42-419E-9F21-AF22D8077CBF}"/>
              </a:ext>
            </a:extLst>
          </p:cNvPr>
          <p:cNvSpPr txBox="1"/>
          <p:nvPr/>
        </p:nvSpPr>
        <p:spPr>
          <a:xfrm>
            <a:off x="6422641" y="1434169"/>
            <a:ext cx="1822997" cy="235119"/>
          </a:xfrm>
          <a:prstGeom prst="bracketPair">
            <a:avLst>
              <a:gd name="adj" fmla="val 0"/>
            </a:avLst>
          </a:prstGeom>
          <a:ln w="254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1800" dirty="0">
                <a:ln>
                  <a:solidFill>
                    <a:srgbClr val="A7B2C9">
                      <a:alpha val="0"/>
                    </a:srgbClr>
                  </a:solidFill>
                </a:ln>
                <a:latin typeface="Arial" pitchFamily="34" charset="0"/>
                <a:ea typeface="Rix고딕 M" pitchFamily="18" charset="-127"/>
                <a:cs typeface="Arial" pitchFamily="34" charset="0"/>
              </a:rPr>
              <a:t>대표 연구성과</a:t>
            </a:r>
          </a:p>
        </p:txBody>
      </p:sp>
      <p:pic>
        <p:nvPicPr>
          <p:cNvPr id="19" name="Picture 18" descr="D:\유진문서\_01_업무수행\_02_연구성과\_02_논문 작업\2014년 게재\심사진행\_2014_08_01_오토저널(차량용_레이더_기술동향_제출\_02_논문초안\그림3_레이더센서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346" y="4370498"/>
            <a:ext cx="1605077" cy="93033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4"/>
          <a:srcRect b="14052"/>
          <a:stretch/>
        </p:blipFill>
        <p:spPr>
          <a:xfrm>
            <a:off x="3054084" y="3110704"/>
            <a:ext cx="1981771" cy="755229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12" y="4552335"/>
            <a:ext cx="1567246" cy="705069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8108350" y="2379617"/>
            <a:ext cx="1683797" cy="945388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409944" y="2379922"/>
            <a:ext cx="1685112" cy="949279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9818399" y="2378462"/>
            <a:ext cx="1521201" cy="962246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150096BF-676C-4B85-AF86-973E4C62771F}"/>
              </a:ext>
            </a:extLst>
          </p:cNvPr>
          <p:cNvGrpSpPr/>
          <p:nvPr/>
        </p:nvGrpSpPr>
        <p:grpSpPr>
          <a:xfrm>
            <a:off x="112869" y="5402074"/>
            <a:ext cx="2765659" cy="1203430"/>
            <a:chOff x="137257" y="4230445"/>
            <a:chExt cx="2765659" cy="1203430"/>
          </a:xfrm>
        </p:grpSpPr>
        <p:sp>
          <p:nvSpPr>
            <p:cNvPr id="26" name="TextBox 25"/>
            <p:cNvSpPr txBox="1"/>
            <p:nvPr/>
          </p:nvSpPr>
          <p:spPr>
            <a:xfrm>
              <a:off x="268743" y="4823583"/>
              <a:ext cx="2457160" cy="288975"/>
            </a:xfrm>
            <a:prstGeom prst="snip2DiagRect">
              <a:avLst/>
            </a:prstGeom>
            <a:solidFill>
              <a:srgbClr val="0172FF"/>
            </a:solidFill>
          </p:spPr>
          <p:txBody>
            <a:bodyPr wrap="none" rtlCol="0" anchor="ctr" anchorCtr="0">
              <a:noAutofit/>
            </a:bodyPr>
            <a:lstStyle/>
            <a:p>
              <a:pPr lvl="0" algn="ctr">
                <a:defRPr/>
              </a:pPr>
              <a:r>
                <a:rPr lang="en-US" altLang="ko-KR" sz="1200" b="1" kern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white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FPGA, MCU, DSP </a:t>
              </a:r>
              <a:r>
                <a:rPr lang="ko-KR" altLang="en-US" sz="1200" b="1" kern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white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기반 구현 기술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8743" y="5144900"/>
              <a:ext cx="2457160" cy="288975"/>
            </a:xfrm>
            <a:prstGeom prst="snip2DiagRect">
              <a:avLst/>
            </a:prstGeom>
            <a:solidFill>
              <a:srgbClr val="0172FF"/>
            </a:solidFill>
          </p:spPr>
          <p:txBody>
            <a:bodyPr wrap="none" rtlCol="0" anchor="ctr" anchorCtr="0">
              <a:noAutofit/>
            </a:bodyPr>
            <a:lstStyle/>
            <a:p>
              <a:pPr lvl="0" algn="ctr">
                <a:defRPr/>
              </a:pPr>
              <a:r>
                <a:rPr lang="ko-KR" altLang="en-US" sz="1200" b="1" kern="0" dirty="0" err="1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white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저복잡도</a:t>
              </a:r>
              <a:r>
                <a:rPr lang="ko-KR" altLang="en-US" sz="1200" b="1" kern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white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 고속처리 알고리즘 구현 기술</a:t>
              </a: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84B5C6D5-E909-4AF5-92E8-D94BB4D36902}"/>
                </a:ext>
              </a:extLst>
            </p:cNvPr>
            <p:cNvGrpSpPr/>
            <p:nvPr/>
          </p:nvGrpSpPr>
          <p:grpSpPr>
            <a:xfrm>
              <a:off x="137257" y="4230445"/>
              <a:ext cx="2765659" cy="492443"/>
              <a:chOff x="3353090" y="2952670"/>
              <a:chExt cx="2765659" cy="492443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8802789C-FB7F-4234-A52B-ABD34551D6F6}"/>
                  </a:ext>
                </a:extLst>
              </p:cNvPr>
              <p:cNvGrpSpPr/>
              <p:nvPr/>
            </p:nvGrpSpPr>
            <p:grpSpPr>
              <a:xfrm>
                <a:off x="3551410" y="2960905"/>
                <a:ext cx="2328489" cy="458570"/>
                <a:chOff x="7763933" y="1482534"/>
                <a:chExt cx="5328740" cy="3170602"/>
              </a:xfrm>
            </p:grpSpPr>
            <p:cxnSp>
              <p:nvCxnSpPr>
                <p:cNvPr id="31" name="직선 연결선 30">
                  <a:extLst>
                    <a:ext uri="{FF2B5EF4-FFF2-40B4-BE49-F238E27FC236}">
                      <a16:creationId xmlns:a16="http://schemas.microsoft.com/office/drawing/2014/main" id="{4F51E609-8C54-432D-8972-6789543B7536}"/>
                    </a:ext>
                  </a:extLst>
                </p:cNvPr>
                <p:cNvCxnSpPr/>
                <p:nvPr/>
              </p:nvCxnSpPr>
              <p:spPr>
                <a:xfrm>
                  <a:off x="7763933" y="1482534"/>
                  <a:ext cx="5328740" cy="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32772"/>
                  </a:solidFill>
                  <a:prstDash val="solid"/>
                </a:ln>
                <a:effectLst/>
              </p:spPr>
            </p:cxnSp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F4E1C20E-C832-4F4D-B2BD-AAFF3E586E7C}"/>
                    </a:ext>
                  </a:extLst>
                </p:cNvPr>
                <p:cNvCxnSpPr/>
                <p:nvPr/>
              </p:nvCxnSpPr>
              <p:spPr>
                <a:xfrm>
                  <a:off x="7763933" y="4653136"/>
                  <a:ext cx="5328740" cy="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32772"/>
                  </a:solidFill>
                  <a:prstDash val="solid"/>
                </a:ln>
                <a:effectLst/>
              </p:spPr>
            </p:cxn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E97C3DE-B310-4D46-ABBB-F1303C4EA144}"/>
                  </a:ext>
                </a:extLst>
              </p:cNvPr>
              <p:cNvSpPr txBox="1"/>
              <p:nvPr/>
            </p:nvSpPr>
            <p:spPr>
              <a:xfrm>
                <a:off x="3353090" y="2952670"/>
                <a:ext cx="2765659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300" b="1" dirty="0">
                    <a:ln>
                      <a:solidFill>
                        <a:prstClr val="white">
                          <a:alpha val="5000"/>
                        </a:prstClr>
                      </a:solidFill>
                    </a:ln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알고리즘 실시간</a:t>
                </a:r>
                <a:endParaRPr lang="en-US" altLang="ko-KR" sz="1300" b="1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latin typeface="Rix고딕 B" panose="02020603020101020101" pitchFamily="18" charset="-127"/>
                  <a:ea typeface="Rix고딕 B" panose="02020603020101020101" pitchFamily="18" charset="-127"/>
                </a:endParaRPr>
              </a:p>
              <a:p>
                <a:pPr algn="ctr"/>
                <a:r>
                  <a:rPr lang="ko-KR" altLang="en-US" sz="1300" b="1" dirty="0">
                    <a:ln>
                      <a:solidFill>
                        <a:prstClr val="white">
                          <a:alpha val="5000"/>
                        </a:prstClr>
                      </a:solidFill>
                    </a:ln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임베디드 구현 기술</a:t>
                </a:r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A80FF31-5A2F-4A31-9B0D-65B223B76C35}"/>
              </a:ext>
            </a:extLst>
          </p:cNvPr>
          <p:cNvGrpSpPr/>
          <p:nvPr/>
        </p:nvGrpSpPr>
        <p:grpSpPr>
          <a:xfrm>
            <a:off x="2695321" y="5402074"/>
            <a:ext cx="2765659" cy="1179557"/>
            <a:chOff x="92027" y="5582006"/>
            <a:chExt cx="2765659" cy="1179557"/>
          </a:xfrm>
        </p:grpSpPr>
        <p:sp>
          <p:nvSpPr>
            <p:cNvPr id="34" name="TextBox 33"/>
            <p:cNvSpPr txBox="1"/>
            <p:nvPr/>
          </p:nvSpPr>
          <p:spPr>
            <a:xfrm>
              <a:off x="318987" y="6151271"/>
              <a:ext cx="2322308" cy="288975"/>
            </a:xfrm>
            <a:prstGeom prst="snip2DiagRect">
              <a:avLst/>
            </a:prstGeom>
            <a:solidFill>
              <a:srgbClr val="0172FF"/>
            </a:solidFill>
          </p:spPr>
          <p:txBody>
            <a:bodyPr wrap="none" rtlCol="0" anchor="ctr" anchorCtr="0">
              <a:noAutofit/>
            </a:bodyPr>
            <a:lstStyle/>
            <a:p>
              <a:pPr lvl="0" algn="ctr">
                <a:defRPr/>
              </a:pPr>
              <a:r>
                <a:rPr lang="ko-KR" altLang="en-US" sz="1200" b="1" kern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white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레이더 시스템 파라미터 설계 기술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18987" y="6472588"/>
              <a:ext cx="2332876" cy="288975"/>
            </a:xfrm>
            <a:prstGeom prst="snip2DiagRect">
              <a:avLst/>
            </a:prstGeom>
            <a:solidFill>
              <a:srgbClr val="0172FF"/>
            </a:solidFill>
          </p:spPr>
          <p:txBody>
            <a:bodyPr wrap="none" rtlCol="0" anchor="ctr" anchorCtr="0">
              <a:noAutofit/>
            </a:bodyPr>
            <a:lstStyle/>
            <a:p>
              <a:pPr lvl="0" algn="ctr">
                <a:defRPr/>
              </a:pPr>
              <a:r>
                <a:rPr lang="ko-KR" altLang="en-US" sz="1200" b="1" kern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white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신호처리 </a:t>
              </a:r>
              <a:r>
                <a:rPr lang="en-US" altLang="ko-KR" sz="1200" b="1" kern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white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HW </a:t>
              </a:r>
              <a:r>
                <a:rPr lang="ko-KR" altLang="en-US" sz="1200" b="1" kern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white"/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상위 설계 기술</a:t>
              </a:r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8585960B-F365-46A3-A745-9DBF66D129BF}"/>
                </a:ext>
              </a:extLst>
            </p:cNvPr>
            <p:cNvGrpSpPr/>
            <p:nvPr/>
          </p:nvGrpSpPr>
          <p:grpSpPr>
            <a:xfrm>
              <a:off x="92027" y="5582006"/>
              <a:ext cx="2765659" cy="492443"/>
              <a:chOff x="3353090" y="2952670"/>
              <a:chExt cx="2765659" cy="492443"/>
            </a:xfrm>
          </p:grpSpPr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F58BEF32-98B5-4673-B56A-7168E5CD4160}"/>
                  </a:ext>
                </a:extLst>
              </p:cNvPr>
              <p:cNvGrpSpPr/>
              <p:nvPr/>
            </p:nvGrpSpPr>
            <p:grpSpPr>
              <a:xfrm>
                <a:off x="3551410" y="2960905"/>
                <a:ext cx="2328489" cy="458570"/>
                <a:chOff x="7763933" y="1482534"/>
                <a:chExt cx="5328740" cy="3170602"/>
              </a:xfrm>
            </p:grpSpPr>
            <p:cxnSp>
              <p:nvCxnSpPr>
                <p:cNvPr id="39" name="직선 연결선 38">
                  <a:extLst>
                    <a:ext uri="{FF2B5EF4-FFF2-40B4-BE49-F238E27FC236}">
                      <a16:creationId xmlns:a16="http://schemas.microsoft.com/office/drawing/2014/main" id="{552394C6-F5AC-4F0F-A044-E4C09817E80F}"/>
                    </a:ext>
                  </a:extLst>
                </p:cNvPr>
                <p:cNvCxnSpPr/>
                <p:nvPr/>
              </p:nvCxnSpPr>
              <p:spPr>
                <a:xfrm>
                  <a:off x="7763933" y="1482534"/>
                  <a:ext cx="5328740" cy="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32772"/>
                  </a:solidFill>
                  <a:prstDash val="solid"/>
                </a:ln>
                <a:effectLst/>
              </p:spPr>
            </p:cxn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878326F5-FB9A-4DCD-97D5-58D6ED1B177F}"/>
                    </a:ext>
                  </a:extLst>
                </p:cNvPr>
                <p:cNvCxnSpPr/>
                <p:nvPr/>
              </p:nvCxnSpPr>
              <p:spPr>
                <a:xfrm>
                  <a:off x="7763933" y="4653136"/>
                  <a:ext cx="5328740" cy="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32772"/>
                  </a:solidFill>
                  <a:prstDash val="solid"/>
                </a:ln>
                <a:effectLst/>
              </p:spPr>
            </p:cxn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7C68D35-63BF-4337-883A-D5E477726877}"/>
                  </a:ext>
                </a:extLst>
              </p:cNvPr>
              <p:cNvSpPr txBox="1"/>
              <p:nvPr/>
            </p:nvSpPr>
            <p:spPr>
              <a:xfrm>
                <a:off x="3353090" y="2952670"/>
                <a:ext cx="2765659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300" b="1">
                    <a:ln>
                      <a:solidFill>
                        <a:prstClr val="white">
                          <a:alpha val="5000"/>
                        </a:prstClr>
                      </a:solidFill>
                    </a:ln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응용분야 맞춤형</a:t>
                </a:r>
                <a:endParaRPr lang="en-US" altLang="ko-KR" sz="1300" b="1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latin typeface="Rix고딕 B" panose="02020603020101020101" pitchFamily="18" charset="-127"/>
                  <a:ea typeface="Rix고딕 B" panose="02020603020101020101" pitchFamily="18" charset="-127"/>
                </a:endParaRPr>
              </a:p>
              <a:p>
                <a:pPr algn="ctr"/>
                <a:r>
                  <a:rPr lang="ko-KR" altLang="en-US" sz="1300" b="1" dirty="0">
                    <a:ln>
                      <a:solidFill>
                        <a:prstClr val="white">
                          <a:alpha val="5000"/>
                        </a:prstClr>
                      </a:solidFill>
                    </a:ln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레이더 시스템 설계 기술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9336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People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78070" y="191672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2" name="그림 3" descr="DGIST 로봇시스템연구부 이종훈 박사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070" y="2383448"/>
            <a:ext cx="21621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708032" y="2307867"/>
            <a:ext cx="8282875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Jong Hun Lee, Ph. D.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Professor/Convergence Engineering</a:t>
            </a:r>
            <a:r>
              <a:rPr kumimoji="0" lang="en-US" altLang="ko-KR" sz="1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Principal Researcher/Head of Division/Division of Future Automotive Research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DGIST (Daegu </a:t>
            </a:r>
            <a:r>
              <a:rPr kumimoji="0" lang="en-US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Gyeongbuk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Institute of Science &amp; Technology), 50-1, Sang-</a:t>
            </a:r>
            <a:r>
              <a:rPr kumimoji="0" lang="en-US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Ri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kumimoji="0" lang="en-US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Hyeongpung-Myeon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kumimoji="0" lang="en-US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Dalseong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-Gun, Daegu, 711-873, Korea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Phone: 82-53-785-4580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Fax: 82-53-785-4589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Office: R4-Room206 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Email: 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  <a:hlinkClick r:id="rId3"/>
              </a:rPr>
              <a:t>jhlee@dgist.ac.kr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Personal homepage : </a:t>
            </a:r>
            <a:r>
              <a:rPr lang="ko-KR" altLang="en-US" sz="10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링크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Advisory professor</a:t>
            </a:r>
          </a:p>
          <a:p>
            <a:pPr lvl="0"/>
            <a:endParaRPr kumimoji="0" lang="en-US" altLang="ko-KR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3976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People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78070" y="191672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이종훈교수님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Personal homepage :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링크내용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kumimoji="0" lang="en-US" altLang="ko-KR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ko-KR" altLang="en-US" sz="5400" dirty="0">
                <a:latin typeface="Arial" panose="020B0604020202020204" pitchFamily="34" charset="0"/>
                <a:cs typeface="Arial" panose="020B0604020202020204" pitchFamily="34" charset="0"/>
              </a:rPr>
              <a:t>첨부된 이력서</a:t>
            </a:r>
            <a:r>
              <a:rPr lang="en-US" altLang="ko-KR" sz="5400" dirty="0">
                <a:latin typeface="Arial" panose="020B0604020202020204" pitchFamily="34" charset="0"/>
                <a:cs typeface="Arial" panose="020B0604020202020204" pitchFamily="34" charset="0"/>
              </a:rPr>
              <a:t>(1002_2019_CV_jhlee_2018.docx) </a:t>
            </a:r>
            <a:r>
              <a:rPr lang="ko-KR" altLang="en-US" sz="5400" dirty="0" err="1">
                <a:latin typeface="Arial" panose="020B0604020202020204" pitchFamily="34" charset="0"/>
                <a:cs typeface="Arial" panose="020B0604020202020204" pitchFamily="34" charset="0"/>
              </a:rPr>
              <a:t>파일내용</a:t>
            </a:r>
            <a:endParaRPr kumimoji="0" lang="en-US" altLang="ko-KR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7542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People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78070" y="191672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708032" y="2461756"/>
            <a:ext cx="8282875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Sangdong</a:t>
            </a:r>
            <a:r>
              <a:rPr kumimoji="0" lang="en-US" altLang="ko-KR" sz="1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Kim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Ph. D.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Senior Research Engineer/Division of Automotive Technology</a:t>
            </a: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DGIST (Daegu </a:t>
            </a:r>
            <a:r>
              <a:rPr lang="en-US" altLang="ko-KR" sz="1000" dirty="0" err="1">
                <a:latin typeface="Arial" panose="020B0604020202020204" pitchFamily="34" charset="0"/>
                <a:cs typeface="Arial" panose="020B0604020202020204" pitchFamily="34" charset="0"/>
              </a:rPr>
              <a:t>Gyeongbuk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 Institute of Science &amp; Technology), 50-1, Sang-</a:t>
            </a:r>
            <a:r>
              <a:rPr lang="en-US" altLang="ko-KR" sz="1000" dirty="0" err="1">
                <a:latin typeface="Arial" panose="020B0604020202020204" pitchFamily="34" charset="0"/>
                <a:cs typeface="Arial" panose="020B0604020202020204" pitchFamily="34" charset="0"/>
              </a:rPr>
              <a:t>Ri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sz="1000" dirty="0" err="1">
                <a:latin typeface="Arial" panose="020B0604020202020204" pitchFamily="34" charset="0"/>
                <a:cs typeface="Arial" panose="020B0604020202020204" pitchFamily="34" charset="0"/>
              </a:rPr>
              <a:t>Hyeongpung-Myeon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sz="1000" dirty="0" err="1">
                <a:latin typeface="Arial" panose="020B0604020202020204" pitchFamily="34" charset="0"/>
                <a:cs typeface="Arial" panose="020B0604020202020204" pitchFamily="34" charset="0"/>
              </a:rPr>
              <a:t>Dalseong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-Gun, Daegu, 711-873, Korea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Phone : +82-53-785-4561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E-mail :  kimsd728@dgist.ac.kr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Personal homepage : </a:t>
            </a:r>
            <a:r>
              <a:rPr lang="ko-KR" altLang="en-US" sz="10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링크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김상동_사진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986" y="2461756"/>
            <a:ext cx="1236662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Co-advisory professor</a:t>
            </a:r>
          </a:p>
          <a:p>
            <a:pPr lvl="0"/>
            <a:endParaRPr kumimoji="0" lang="en-US" altLang="ko-KR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7024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People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78070" y="191672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김상동박사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Personal homepage :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링크내용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kumimoji="0" lang="en-US" altLang="ko-KR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ko-KR" altLang="en-US" sz="5400" dirty="0">
                <a:latin typeface="Arial" panose="020B0604020202020204" pitchFamily="34" charset="0"/>
                <a:cs typeface="Arial" panose="020B0604020202020204" pitchFamily="34" charset="0"/>
              </a:rPr>
              <a:t>첨부된 이력서</a:t>
            </a:r>
            <a:r>
              <a:rPr lang="en-US" altLang="ko-KR" sz="5400" dirty="0">
                <a:latin typeface="Arial" panose="020B0604020202020204" pitchFamily="34" charset="0"/>
                <a:cs typeface="Arial" panose="020B0604020202020204" pitchFamily="34" charset="0"/>
              </a:rPr>
              <a:t>(CV_SangdongKim_03_02_2020.doc) </a:t>
            </a:r>
            <a:r>
              <a:rPr lang="ko-KR" altLang="en-US" sz="5400" dirty="0" err="1">
                <a:latin typeface="Arial" panose="020B0604020202020204" pitchFamily="34" charset="0"/>
                <a:cs typeface="Arial" panose="020B0604020202020204" pitchFamily="34" charset="0"/>
              </a:rPr>
              <a:t>파일내용</a:t>
            </a:r>
            <a:endParaRPr kumimoji="0" lang="en-US" altLang="ko-KR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1176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People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Researcher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Bong-</a:t>
            </a:r>
            <a:r>
              <a:rPr lang="en-US" altLang="ko-KR" dirty="0" err="1"/>
              <a:t>seok</a:t>
            </a:r>
            <a:r>
              <a:rPr lang="en-US" altLang="ko-KR" dirty="0"/>
              <a:t> Kim, Ph. D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 err="1"/>
              <a:t>Seungeon</a:t>
            </a:r>
            <a:r>
              <a:rPr lang="en-US" altLang="ko-KR" dirty="0"/>
              <a:t> Song</a:t>
            </a:r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r>
              <a:rPr lang="en-US" altLang="ko-KR" dirty="0"/>
              <a:t>Master course </a:t>
            </a:r>
          </a:p>
          <a:p>
            <a:r>
              <a:rPr lang="en-US" altLang="ko-KR" dirty="0" err="1"/>
              <a:t>Eungang</a:t>
            </a:r>
            <a:r>
              <a:rPr lang="en-US" altLang="ko-KR" dirty="0"/>
              <a:t> Son</a:t>
            </a:r>
          </a:p>
        </p:txBody>
      </p:sp>
    </p:spTree>
    <p:extLst>
      <p:ext uri="{BB962C8B-B14F-4D97-AF65-F5344CB8AC3E}">
        <p14:creationId xmlns:p14="http://schemas.microsoft.com/office/powerpoint/2010/main" val="3188746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</a:t>
            </a:r>
            <a:endParaRPr lang="ko-KR" altLang="en-US" dirty="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3943677B-6684-41D1-AB8C-A6C5C180AA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0" y="1690688"/>
            <a:ext cx="5981700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328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52F72D-BA9D-4D58-A565-E90C8D63EA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690688"/>
            <a:ext cx="59436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054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6F1670-2D48-4448-AEB9-6D233CFFC9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611" y="1690688"/>
            <a:ext cx="5602777" cy="420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279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367194A-A8D4-4801-9552-EF11755E05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00" y="1690688"/>
            <a:ext cx="54356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51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DABDE1-A507-4484-98DD-BFB774C54F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300" y="714375"/>
            <a:ext cx="8191500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77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55B69D-34B6-4E1C-AC3B-0FD09129EC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900" y="1690688"/>
            <a:ext cx="556260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083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710EF6-25C9-4823-9B97-9AC5788FE4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1690688"/>
            <a:ext cx="5676900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843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Publications</a:t>
            </a:r>
            <a:endParaRPr lang="ko-KR" altLang="en-US" dirty="0"/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이종훈교수님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Personal homepage :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링크내용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kumimoji="0" lang="en-US" altLang="ko-KR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ko-KR" altLang="en-US" sz="5400" dirty="0">
                <a:latin typeface="Arial" panose="020B0604020202020204" pitchFamily="34" charset="0"/>
                <a:cs typeface="Arial" panose="020B0604020202020204" pitchFamily="34" charset="0"/>
              </a:rPr>
              <a:t>첨부된 이력서</a:t>
            </a:r>
            <a:r>
              <a:rPr lang="en-US" altLang="ko-KR" sz="5400" dirty="0">
                <a:latin typeface="Arial" panose="020B0604020202020204" pitchFamily="34" charset="0"/>
                <a:cs typeface="Arial" panose="020B0604020202020204" pitchFamily="34" charset="0"/>
              </a:rPr>
              <a:t>(1002_2019_CV_jhlee_2018.docx) </a:t>
            </a:r>
            <a:r>
              <a:rPr lang="ko-KR" altLang="en-US" sz="5400" dirty="0">
                <a:latin typeface="Arial" panose="020B0604020202020204" pitchFamily="34" charset="0"/>
                <a:cs typeface="Arial" panose="020B0604020202020204" pitchFamily="34" charset="0"/>
              </a:rPr>
              <a:t>중 </a:t>
            </a:r>
            <a:r>
              <a:rPr lang="en-US" altLang="ko-KR" sz="5400" dirty="0">
                <a:latin typeface="Arial" panose="020B0604020202020204" pitchFamily="34" charset="0"/>
                <a:cs typeface="Arial" panose="020B0604020202020204" pitchFamily="34" charset="0"/>
              </a:rPr>
              <a:t>Publications </a:t>
            </a:r>
            <a:r>
              <a:rPr lang="ko-KR" altLang="en-US" sz="5400" dirty="0">
                <a:latin typeface="Arial" panose="020B0604020202020204" pitchFamily="34" charset="0"/>
                <a:cs typeface="Arial" panose="020B0604020202020204" pitchFamily="34" charset="0"/>
              </a:rPr>
              <a:t>참조</a:t>
            </a:r>
            <a:endParaRPr kumimoji="0" lang="en-US" altLang="ko-KR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7785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Lecture</a:t>
            </a:r>
            <a:endParaRPr lang="ko-KR" altLang="en-US" dirty="0"/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현재는 공란으로 만들어주세요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2750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News </a:t>
            </a:r>
            <a:r>
              <a:rPr lang="en-US" altLang="ko-KR"/>
              <a:t>&amp; updates</a:t>
            </a:r>
            <a:endParaRPr lang="ko-KR" altLang="en-US" dirty="0"/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현재는 공란으로 만들어주세요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4674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355</Words>
  <Application>Microsoft Office PowerPoint</Application>
  <PresentationFormat>와이드스크린</PresentationFormat>
  <Paragraphs>77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Rix고딕 B</vt:lpstr>
      <vt:lpstr>Rix고딕 M</vt:lpstr>
      <vt:lpstr>맑은 고딕</vt:lpstr>
      <vt:lpstr>Arial</vt:lpstr>
      <vt:lpstr>Office 테마</vt:lpstr>
      <vt:lpstr>PowerPoint 프레젠테이션</vt:lpstr>
      <vt:lpstr>메인페이지 </vt:lpstr>
      <vt:lpstr>ART Lab. </vt:lpstr>
      <vt:lpstr>People </vt:lpstr>
      <vt:lpstr>People </vt:lpstr>
      <vt:lpstr>People </vt:lpstr>
      <vt:lpstr>People </vt:lpstr>
      <vt:lpstr>People </vt:lpstr>
      <vt:lpstr>Project</vt:lpstr>
      <vt:lpstr>Project</vt:lpstr>
      <vt:lpstr>Project</vt:lpstr>
      <vt:lpstr>Project</vt:lpstr>
      <vt:lpstr>Project</vt:lpstr>
      <vt:lpstr>Project</vt:lpstr>
      <vt:lpstr>Project</vt:lpstr>
      <vt:lpstr>Publications</vt:lpstr>
      <vt:lpstr>Lecture</vt:lpstr>
      <vt:lpstr>News &amp; updates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ART4207</cp:lastModifiedBy>
  <cp:revision>7</cp:revision>
  <dcterms:created xsi:type="dcterms:W3CDTF">2020-03-27T00:56:55Z</dcterms:created>
  <dcterms:modified xsi:type="dcterms:W3CDTF">2020-03-27T06:59:45Z</dcterms:modified>
</cp:coreProperties>
</file>